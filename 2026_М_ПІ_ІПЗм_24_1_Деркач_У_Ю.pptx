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68" r:id="rId5"/>
    <p:sldId id="258" r:id="rId6"/>
    <p:sldId id="269" r:id="rId7"/>
    <p:sldId id="259" r:id="rId8"/>
    <p:sldId id="260" r:id="rId9"/>
    <p:sldId id="27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636E3-939B-4399-94DC-F11B97B97F0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E6CF5-396A-4491-A451-1480AAA9E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80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384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98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588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D441-BE0B-4F32-9696-B487FA3D4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E1321-A1FD-4495-B77D-F5E87A40A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39BF1-031F-4A50-8684-F7563E03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79B31-7963-488F-97A0-5FDA10B7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DC491-276F-4635-A655-F24E9AF3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56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9848-B0D2-471D-B588-0E8997DB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26FE-EE51-49E1-8B9A-5D262A68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DF6DE-ECC9-4D62-B75C-036036C3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7FAA-6948-441B-BBF0-5CFB0BA8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2D29-7C5B-46AF-AD50-22F51F08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42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07FF-4FAB-42F9-BFF3-D1FB6793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FEC2C-F5A1-4654-B5EF-B85BA18E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14F7D-7713-4BF6-8905-3F7F6D36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8BC75-AA9C-4931-B94C-CD04D119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AE684-8795-4F46-8226-B43CD575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95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542C-06AA-4D69-8148-5EAF1FB4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8E821-4FAC-45FF-ACEC-0CAE23BED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F3D62-7781-4D18-BBCE-5E3DBCF2C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AF598-546C-425F-AECF-A9B1A50A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F08D7-AAD8-4326-83AB-ED9FEE4F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9CB04-F112-4F98-A947-F7E97EC4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24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3B73-37A5-46F5-96BA-0ACBEB79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1BE4B-D1ED-4ACF-9766-1994628DF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6E647-DBD7-4CE2-BD19-0792CC42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7643A-D087-4DE3-9510-D063613A6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71241-F590-47DD-8444-0CECF80E9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8E688-0BE6-40EB-B773-4C65ECAF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BAF50-FF48-4661-AA42-8E6C1ADF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6809E-19A5-4D9A-8934-1DB943FE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53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9AB7-C7DD-437B-8CCB-F500424D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767FF-930F-42EB-BF97-3261B6C3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8BBB6-743D-4650-8585-B4F4DBBA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10D75-72DE-4732-A18C-15D983B3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25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BE123-E7F7-463C-B37F-64AE54D6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9A79E-B2CD-470C-8874-54231BB0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A7084-DAE6-43D7-80F7-EFE2CFAC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91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C781-9F95-4942-B4C9-3D3DF29F7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BA074-4684-429E-BD12-9EF88897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8D435-1C33-40DA-A773-0493565D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378DE-2D91-446C-803D-632B8240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B5D8B-DE72-4F31-9215-23AC9283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D0FF8-AEBE-4DD2-AE48-C6F3DD7A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71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2489-B0FD-457D-B061-30214C38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F054F-9670-4400-BFD7-276BA34E2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26C99-B709-4A08-B7A1-628A7347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5DDDA-A63C-4C35-AA92-FA979DB1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0E7D1-5749-4F4C-9C7B-C78AA7AC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B1693-9D89-45AC-BA33-47C8C3EB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3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E15F-8333-486F-8E9F-ED3A15EB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EAF1D-04D8-4C09-AA1D-227317213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53FB-EB6A-44F1-B517-5FBDA92C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93B1C-8771-41DE-BEA3-F3D1A8BE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39C16-2B66-41BC-A142-888DC366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1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0F0D9-75BB-4AEE-92AE-149ABDEA2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48A2D-2E98-45CC-BF96-2C4D6F5C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3D3E-F5B8-4B39-9C93-9D6FB5C5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BAE77-A4F9-4B37-AA89-9F8DE7A5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D9C93-1356-41B7-B490-B09170BF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25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58685" y="10089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7091134" y="4355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059600" y="1925673"/>
            <a:ext cx="40728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107176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10127918" y="613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621901" y="47444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800" cy="20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807319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2134652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595134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88112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496669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568124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3" name="Google Shape;43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600" cy="23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478524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2020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8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5588788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223154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93198-B0F2-4E08-876D-FDEA8829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255B7-FF0D-4437-986A-D1C77152D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36AD-9F61-428B-90C9-149BC9861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CDF4B-BAFE-4130-AB3D-521E671CDC45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E55E5-7413-4C6B-BDA3-AAD9D3ABC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720C-42EA-4DCF-8B76-AFE8C059E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D2145-8242-4571-B859-A4A50599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8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3676870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691859" y="1044869"/>
            <a:ext cx="4808283" cy="351262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l"/>
            <a:r>
              <a:rPr lang="uk" sz="3200" dirty="0"/>
              <a:t>Дослідження методів визначення ознак зображень, згенерованих штучним інтелектом, для їх подальшого фільтрування</a:t>
            </a:r>
            <a:endParaRPr sz="32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35277" y="4741133"/>
            <a:ext cx="6657052" cy="204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20000"/>
          </a:bodyPr>
          <a:lstStyle/>
          <a:p>
            <a:pPr marL="0" indent="0"/>
            <a:endParaRPr dirty="0"/>
          </a:p>
          <a:p>
            <a:pPr marL="0" indent="0" algn="l"/>
            <a:r>
              <a:rPr lang="uk" dirty="0"/>
              <a:t>ст. гр. ІПЗм-24-1 Деркач Уляна Юріївна, </a:t>
            </a:r>
            <a:endParaRPr dirty="0"/>
          </a:p>
          <a:p>
            <a:pPr marL="0" indent="0" algn="l"/>
            <a:r>
              <a:rPr lang="uk" dirty="0"/>
              <a:t>Науковий керівник: к. т. н., доц. каф. ПІ Лановий О.Ф.</a:t>
            </a:r>
            <a:endParaRPr dirty="0"/>
          </a:p>
          <a:p>
            <a:pPr marL="0" indent="0"/>
            <a:endParaRPr dirty="0"/>
          </a:p>
          <a:p>
            <a:pPr marL="0" indent="0"/>
            <a:endParaRPr dirty="0"/>
          </a:p>
          <a:p>
            <a:pPr marL="0" indent="0"/>
            <a:r>
              <a:rPr lang="uk" dirty="0"/>
              <a:t>20 травня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67" y="227767"/>
            <a:ext cx="2845300" cy="5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4673" y="227767"/>
            <a:ext cx="2566561" cy="585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ru-RU" sz="4267" dirty="0"/>
              <a:t>Актуальність та стан розвитку галузі </a:t>
            </a:r>
            <a:endParaRPr lang="uk-UA" sz="4267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ru-RU" sz="2400" dirty="0"/>
              <a:t>генеративні моделі штучного інтелекту швидко розвиваються і здатні створювати зображення, які майже не відрізняються від реальних фотографій;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ru-RU" sz="2400" dirty="0"/>
              <a:t>через масове поширення синтетичних зображень у медіа та соціальних мережах стає все складніше перевіряти достовірність візуальної інформації.</a:t>
            </a:r>
            <a:endParaRPr sz="2400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2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ru-RU" sz="4267" dirty="0"/>
              <a:t>Напрям та об’єкт дослідження</a:t>
            </a:r>
            <a:endParaRPr lang="uk-UA" sz="4267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uk-UA" sz="2400" b="1" dirty="0"/>
              <a:t>Напрям дослідження </a:t>
            </a:r>
            <a:r>
              <a:rPr lang="uk-UA" sz="2400" dirty="0"/>
              <a:t>- </a:t>
            </a:r>
            <a:r>
              <a:rPr lang="ru-RU" sz="2400" dirty="0"/>
              <a:t>дослідження, розробка та експериментальна перевірка методів визначення ознак зображень, згенерованих штучним інтелектом, порівняльне оцінювання різних підходів детекції та вибір найефективнішого методу з урахуванням ключових технічних критеріїв;</a:t>
            </a:r>
          </a:p>
          <a:p>
            <a:pPr marL="0" indent="0">
              <a:buNone/>
            </a:pPr>
            <a:endParaRPr lang="ru-RU" sz="2400" dirty="0">
              <a:latin typeface="Economica" panose="020B0604020202020204" charset="0"/>
            </a:endParaRPr>
          </a:p>
          <a:p>
            <a:pPr marL="0" indent="0">
              <a:buNone/>
            </a:pPr>
            <a:r>
              <a:rPr lang="ru-RU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Об’єкт дослідження 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uk-UA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роцес розпізнавання цифрових зображень реального та синтетичного походження в умовах швидкого розвитку генеративних моделей.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3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525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15600" y="-166484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Огляд літератури (аналогів) </a:t>
            </a:r>
            <a:endParaRPr sz="4267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15600" y="751734"/>
            <a:ext cx="5680400" cy="58004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ru-RU" sz="2100" dirty="0">
                <a:solidFill>
                  <a:srgbClr val="0D0D0D"/>
                </a:solidFill>
                <a:highlight>
                  <a:srgbClr val="FFFFFF"/>
                </a:highlight>
              </a:rPr>
              <a:t>Основні джерела у галузі:</a:t>
            </a:r>
            <a:endParaRPr lang="ru-RU" sz="2100"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On the detection of synthetic images generated by diffusion models, </a:t>
            </a:r>
            <a:r>
              <a:rPr lang="uk-UA" dirty="0"/>
              <a:t>автори </a:t>
            </a:r>
            <a:r>
              <a:rPr lang="en-US" dirty="0" err="1"/>
              <a:t>Corvi</a:t>
            </a:r>
            <a:r>
              <a:rPr lang="en-US" dirty="0"/>
              <a:t> R., Cozzolino D., </a:t>
            </a:r>
            <a:r>
              <a:rPr lang="en-US" dirty="0" err="1"/>
              <a:t>Zingarini</a:t>
            </a:r>
            <a:r>
              <a:rPr lang="en-US" dirty="0"/>
              <a:t> G., Poggi G., Nagano K., </a:t>
            </a:r>
            <a:r>
              <a:rPr lang="en-US" dirty="0" err="1"/>
              <a:t>Verdoliva</a:t>
            </a:r>
            <a:r>
              <a:rPr lang="en-US" dirty="0"/>
              <a:t> L.</a:t>
            </a:r>
            <a:r>
              <a:rPr lang="uk-UA" dirty="0"/>
              <a:t>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Combining </a:t>
            </a:r>
            <a:r>
              <a:rPr lang="en-US" dirty="0" err="1"/>
              <a:t>EfficientNet</a:t>
            </a:r>
            <a:r>
              <a:rPr lang="en-US" dirty="0"/>
              <a:t> and Vision Transformers for Video Deepfake Detection, </a:t>
            </a:r>
            <a:r>
              <a:rPr lang="uk-UA" dirty="0"/>
              <a:t>автори </a:t>
            </a:r>
            <a:r>
              <a:rPr lang="en-US" dirty="0" err="1"/>
              <a:t>Coccomini</a:t>
            </a:r>
            <a:r>
              <a:rPr lang="en-US" dirty="0"/>
              <a:t> D. A., Messina N., Gennaro C., Amato G.</a:t>
            </a:r>
            <a:r>
              <a:rPr lang="uk-UA" dirty="0"/>
              <a:t>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Towards universal fake image detectors that generalize across generative models, </a:t>
            </a:r>
            <a:r>
              <a:rPr lang="uk-UA" dirty="0"/>
              <a:t>автори </a:t>
            </a:r>
            <a:r>
              <a:rPr lang="en-US" dirty="0"/>
              <a:t>Ojha U., Li Y., Lee Y. J.</a:t>
            </a:r>
            <a:endParaRPr lang="uk-UA" dirty="0"/>
          </a:p>
          <a:p>
            <a:pPr marL="0" indent="0" algn="just">
              <a:spcBef>
                <a:spcPts val="1200"/>
              </a:spcBef>
              <a:spcAft>
                <a:spcPts val="1600"/>
              </a:spcAft>
              <a:buNone/>
            </a:pPr>
            <a:r>
              <a:rPr lang="ru-RU" dirty="0"/>
              <a:t>Дослідження зосереджені на виявленні специфічних артефактів новітніх дифузійних моделей, обґрунтуванні ефективності гібридних архітектур поєднання згорткових мереж та візуальних трансформерів, а також на розробці універсальних алгоритмів детекції, здатних стабільно розпізнавати згенерований контент від абсолютно нових і невідомих моделей генерації.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83" y="5938072"/>
            <a:ext cx="1034451" cy="6502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4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F1FE4-D90E-4F0A-B2C1-2409DD8EF4F5}"/>
              </a:ext>
            </a:extLst>
          </p:cNvPr>
          <p:cNvSpPr txBox="1"/>
          <p:nvPr/>
        </p:nvSpPr>
        <p:spPr>
          <a:xfrm>
            <a:off x="6478185" y="2245851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79;p15">
            <a:extLst>
              <a:ext uri="{FF2B5EF4-FFF2-40B4-BE49-F238E27FC236}">
                <a16:creationId xmlns:a16="http://schemas.microsoft.com/office/drawing/2014/main" id="{5EA08CDC-0900-43FC-B4DA-74257A7184A4}"/>
              </a:ext>
            </a:extLst>
          </p:cNvPr>
          <p:cNvSpPr txBox="1">
            <a:spLocks/>
          </p:cNvSpPr>
          <p:nvPr/>
        </p:nvSpPr>
        <p:spPr>
          <a:xfrm>
            <a:off x="6279197" y="531548"/>
            <a:ext cx="5803860" cy="561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spcBef>
                <a:spcPts val="2000"/>
              </a:spcBef>
              <a:buClr>
                <a:srgbClr val="000000"/>
              </a:buClr>
              <a:buNone/>
            </a:pPr>
            <a:r>
              <a:rPr lang="ru-RU" kern="0" dirty="0">
                <a:solidFill>
                  <a:srgbClr val="0D0D0D"/>
                </a:solidFill>
                <a:highlight>
                  <a:srgbClr val="FFFFFF"/>
                </a:highlight>
              </a:rPr>
              <a:t>Основні теорії у галузі:</a:t>
            </a:r>
            <a:endParaRPr lang="ru-RU" kern="0"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228594" indent="-228594" defTabSz="1219170">
              <a:spcBef>
                <a:spcPts val="2000"/>
              </a:spcBef>
              <a:spcAft>
                <a:spcPts val="1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1500" kern="0" dirty="0">
                <a:solidFill>
                  <a:srgbClr val="000000"/>
                </a:solidFill>
              </a:rPr>
              <a:t>пошук залишкових слідів генерації за допомогою перетворень Фур’є;</a:t>
            </a:r>
          </a:p>
          <a:p>
            <a:pPr marL="228594" indent="-228594" defTabSz="1219170">
              <a:spcBef>
                <a:spcPts val="2000"/>
              </a:spcBef>
              <a:spcAft>
                <a:spcPts val="1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1500" kern="0" dirty="0">
                <a:solidFill>
                  <a:srgbClr val="000000"/>
                </a:solidFill>
              </a:rPr>
              <a:t>використання просторових архітектур на кшталт ResNet для виявлення локальних артефактів та текстурних аномалій;</a:t>
            </a:r>
          </a:p>
          <a:p>
            <a:pPr marL="228594" indent="-228594" defTabSz="1219170">
              <a:spcBef>
                <a:spcPts val="2000"/>
              </a:spcBef>
              <a:spcAft>
                <a:spcPts val="1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1500" kern="0" dirty="0">
                <a:solidFill>
                  <a:srgbClr val="000000"/>
                </a:solidFill>
              </a:rPr>
              <a:t>застосування </a:t>
            </a:r>
            <a:r>
              <a:rPr lang="en-US" sz="1500" kern="0" dirty="0">
                <a:solidFill>
                  <a:srgbClr val="000000"/>
                </a:solidFill>
              </a:rPr>
              <a:t>Vision Transformer (</a:t>
            </a:r>
            <a:r>
              <a:rPr lang="en-US" sz="1500" kern="0" dirty="0" err="1">
                <a:solidFill>
                  <a:srgbClr val="000000"/>
                </a:solidFill>
              </a:rPr>
              <a:t>ViT</a:t>
            </a:r>
            <a:r>
              <a:rPr lang="en-US" sz="1500" kern="0" dirty="0">
                <a:solidFill>
                  <a:srgbClr val="000000"/>
                </a:solidFill>
              </a:rPr>
              <a:t>) </a:t>
            </a:r>
            <a:r>
              <a:rPr lang="ru-RU" sz="1500" kern="0" dirty="0">
                <a:solidFill>
                  <a:srgbClr val="000000"/>
                </a:solidFill>
              </a:rPr>
              <a:t>для аналізу глобальних семантичних зв'язків та неузгодженостей у сцені;</a:t>
            </a:r>
          </a:p>
          <a:p>
            <a:pPr marL="228594" indent="-228594" defTabSz="1219170">
              <a:spcBef>
                <a:spcPts val="2000"/>
              </a:spcBef>
              <a:spcAft>
                <a:spcPts val="1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1500" kern="0" dirty="0">
                <a:solidFill>
                  <a:srgbClr val="000000"/>
                </a:solidFill>
              </a:rPr>
              <a:t>метод DIRE, який базується на обчисленні помилки реконструкції зображення самою дифузійною моделлю.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15600" y="-166484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r>
              <a:rPr lang="ru-RU" sz="4267" dirty="0"/>
              <a:t>Зазначення прогалин у наявних дослідженнях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суттєве падіння точності розпізнавання при роботі з новими генеративними архітектурами що не входили до тренувальних вибірок;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обмеженість даних щодо стійкості детекторів до типових інтернет перетворень, зокрема стиснення та зміни розміру;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24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5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75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15600" y="-248368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Постановка задачі</a:t>
            </a:r>
            <a:endParaRPr sz="4267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15600" y="790811"/>
            <a:ext cx="11360800" cy="52736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spcBef>
                <a:spcPts val="2000"/>
              </a:spcBef>
              <a:buNone/>
            </a:pPr>
            <a:r>
              <a:rPr lang="uk-UA" b="1" dirty="0">
                <a:solidFill>
                  <a:srgbClr val="0D0D0D"/>
                </a:solidFill>
                <a:highlight>
                  <a:srgbClr val="FFFFFF"/>
                </a:highlight>
              </a:rPr>
              <a:t>Проблема: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необхідність розробки універсальних методів детекції, які здатні надійно відрізняти реальні фотографії від згенерованих зображень в умовах постійного розвитку нових генераторів та впливу типової постобробки.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indent="0">
              <a:spcBef>
                <a:spcPts val="2000"/>
              </a:spcBef>
              <a:buNone/>
            </a:pPr>
            <a:r>
              <a:rPr lang="uk" b="1" dirty="0">
                <a:solidFill>
                  <a:srgbClr val="0D0D0D"/>
                </a:solidFill>
                <a:highlight>
                  <a:srgbClr val="FFFFFF"/>
                </a:highlight>
              </a:rPr>
              <a:t>Очікувані результати:</a:t>
            </a:r>
            <a:endParaRPr b="1"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Tx/>
              <a:buChar char="-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комплексне експериментальне порівняння п'яти різних підходів детекції: спектрального аналізу, згорткової мережі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ResNet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,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візуального трансформера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ViT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,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методу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DIRE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та мультимодальної гібридної архітектури;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Tx/>
              <a:buChar char="-"/>
            </a:pP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Визначення найефективнішого методу за допомогою математичного апарату адитивної лінійної згортки.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Tx/>
              <a:buChar char="-"/>
            </a:pP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Tx/>
              <a:buChar char="-"/>
            </a:pP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6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415600" y="-197745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Методологія </a:t>
            </a:r>
            <a:endParaRPr sz="4267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15600" y="1290227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експериментальне порівняння п'яти різних архітектурних підходів в однакових умовах тестування;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uk-UA" sz="2400" dirty="0"/>
              <a:t>метод адитивної лінійної згортки з ваговими коефіцієнтами для обрання найефективнішої моделі за сукупністю критеріїв;</a:t>
            </a:r>
            <a:endParaRPr lang="ru-RU" sz="2400" dirty="0"/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тестування на невідомих генераторах та після перетворень сигналу для оцінки стійкості.</a:t>
            </a:r>
            <a:endParaRPr lang="ru-RU" sz="2400" dirty="0">
              <a:latin typeface="Economica" panose="020B0604020202020204" charset="0"/>
            </a:endParaRP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7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415600" y="-197745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-UA" sz="4267" dirty="0"/>
              <a:t>Інструментарій та технології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15600" y="1290227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Python 3 </a:t>
            </a:r>
            <a:r>
              <a:rPr lang="ru-RU" sz="1900" dirty="0"/>
              <a:t> - </a:t>
            </a:r>
            <a:r>
              <a:rPr lang="ru-RU" sz="1900" dirty="0" err="1"/>
              <a:t>основне</a:t>
            </a:r>
            <a:r>
              <a:rPr lang="ru-RU" sz="1900" dirty="0"/>
              <a:t> </a:t>
            </a:r>
            <a:r>
              <a:rPr lang="ru-RU" sz="1900" dirty="0" err="1"/>
              <a:t>середовище</a:t>
            </a:r>
            <a:r>
              <a:rPr lang="ru-RU" sz="1900" dirty="0"/>
              <a:t> для </a:t>
            </a:r>
            <a:r>
              <a:rPr lang="ru-RU" sz="1900" dirty="0" err="1"/>
              <a:t>розробки</a:t>
            </a:r>
            <a:r>
              <a:rPr lang="ru-RU" sz="1900" dirty="0"/>
              <a:t> </a:t>
            </a:r>
            <a:r>
              <a:rPr lang="ru-RU" sz="1900" dirty="0" err="1"/>
              <a:t>обчислювального</a:t>
            </a:r>
            <a:r>
              <a:rPr lang="ru-RU" sz="1900" dirty="0"/>
              <a:t> модуля, </a:t>
            </a:r>
            <a:r>
              <a:rPr lang="uk-UA" sz="1900" dirty="0"/>
              <a:t>реалізації алгоритмів машинного навчання та проведення</a:t>
            </a:r>
            <a:r>
              <a:rPr lang="ru-RU" sz="1900" dirty="0"/>
              <a:t> </a:t>
            </a:r>
            <a:r>
              <a:rPr lang="uk-UA" sz="1900" dirty="0"/>
              <a:t>експериментів.</a:t>
            </a:r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PyTorch</a:t>
            </a:r>
            <a:r>
              <a:rPr lang="en-US" sz="1900" dirty="0"/>
              <a:t> </a:t>
            </a:r>
            <a:r>
              <a:rPr lang="ru-RU" sz="1900" dirty="0"/>
              <a:t>- </a:t>
            </a:r>
            <a:r>
              <a:rPr lang="ru-RU" sz="1900" dirty="0" err="1"/>
              <a:t>головний</a:t>
            </a:r>
            <a:r>
              <a:rPr lang="ru-RU" sz="1900" dirty="0"/>
              <a:t> фреймворк </a:t>
            </a:r>
            <a:r>
              <a:rPr lang="ru-RU" sz="1900" dirty="0" err="1"/>
              <a:t>глибокого</a:t>
            </a:r>
            <a:r>
              <a:rPr lang="ru-RU" sz="1900" dirty="0"/>
              <a:t> </a:t>
            </a:r>
            <a:r>
              <a:rPr lang="ru-RU" sz="1900" dirty="0" err="1"/>
              <a:t>навчання</a:t>
            </a:r>
            <a:r>
              <a:rPr lang="ru-RU" sz="1900" dirty="0"/>
              <a:t> для </a:t>
            </a:r>
            <a:r>
              <a:rPr lang="ru-RU" sz="1900" dirty="0" err="1"/>
              <a:t>побудови</a:t>
            </a:r>
            <a:r>
              <a:rPr lang="ru-RU" sz="1900" dirty="0"/>
              <a:t>, </a:t>
            </a:r>
            <a:r>
              <a:rPr lang="ru-RU" sz="1900" dirty="0" err="1"/>
              <a:t>тренування</a:t>
            </a:r>
            <a:r>
              <a:rPr lang="ru-RU" sz="1900" dirty="0"/>
              <a:t> та </a:t>
            </a:r>
            <a:r>
              <a:rPr lang="uk-UA" sz="1900" dirty="0" err="1"/>
              <a:t>валідації</a:t>
            </a:r>
            <a:r>
              <a:rPr lang="ru-RU" sz="1900" dirty="0"/>
              <a:t> </a:t>
            </a:r>
            <a:r>
              <a:rPr lang="ru-RU" sz="1900" dirty="0" err="1"/>
              <a:t>нейромережевих</a:t>
            </a:r>
            <a:r>
              <a:rPr lang="ru-RU" sz="1900" dirty="0"/>
              <a:t> </a:t>
            </a:r>
            <a:r>
              <a:rPr lang="ru-RU" sz="1900" dirty="0" err="1"/>
              <a:t>архітектур</a:t>
            </a:r>
            <a:r>
              <a:rPr lang="ru-RU" sz="1900" dirty="0"/>
              <a:t> </a:t>
            </a:r>
            <a:r>
              <a:rPr lang="en-US" sz="1900" dirty="0" err="1"/>
              <a:t>ViT</a:t>
            </a:r>
            <a:r>
              <a:rPr lang="en-US" sz="1900" dirty="0"/>
              <a:t> </a:t>
            </a:r>
            <a:r>
              <a:rPr lang="ru-RU" sz="1900" dirty="0"/>
              <a:t>та </a:t>
            </a:r>
            <a:r>
              <a:rPr lang="en-US" sz="1900" dirty="0"/>
              <a:t>Hybrid.</a:t>
            </a:r>
            <a:endParaRPr lang="uk-UA" sz="1900" dirty="0"/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ONNX Runtime </a:t>
            </a:r>
            <a:r>
              <a:rPr lang="ru-RU" sz="1900" dirty="0" err="1"/>
              <a:t>забезпечив</a:t>
            </a:r>
            <a:r>
              <a:rPr lang="ru-RU" sz="1900" dirty="0"/>
              <a:t> </a:t>
            </a:r>
            <a:r>
              <a:rPr lang="ru-RU" sz="1900" dirty="0" err="1"/>
              <a:t>можливість</a:t>
            </a:r>
            <a:r>
              <a:rPr lang="ru-RU" sz="1900" dirty="0"/>
              <a:t> </a:t>
            </a:r>
            <a:r>
              <a:rPr lang="ru-RU" sz="1900" dirty="0" err="1"/>
              <a:t>високопродуктивного</a:t>
            </a:r>
            <a:r>
              <a:rPr lang="ru-RU" sz="1900" dirty="0"/>
              <a:t> </a:t>
            </a:r>
            <a:r>
              <a:rPr lang="ru-RU" sz="1900" dirty="0" err="1"/>
              <a:t>виконання</a:t>
            </a:r>
            <a:r>
              <a:rPr lang="ru-RU" sz="1900" dirty="0"/>
              <a:t> </a:t>
            </a:r>
            <a:r>
              <a:rPr lang="ru-RU" sz="1900" dirty="0" err="1"/>
              <a:t>натренованих</a:t>
            </a:r>
            <a:r>
              <a:rPr lang="ru-RU" sz="1900" dirty="0"/>
              <a:t> моделей у </a:t>
            </a:r>
            <a:r>
              <a:rPr lang="ru-RU" sz="1900" dirty="0" err="1"/>
              <a:t>середовищі</a:t>
            </a:r>
            <a:r>
              <a:rPr lang="ru-RU" sz="1900" dirty="0"/>
              <a:t> </a:t>
            </a:r>
            <a:r>
              <a:rPr lang="en-US" sz="1900" dirty="0"/>
              <a:t>C# </a:t>
            </a:r>
            <a:r>
              <a:rPr lang="ru-RU" sz="1900" dirty="0"/>
              <a:t>на </a:t>
            </a:r>
            <a:r>
              <a:rPr lang="ru-RU" sz="1900" dirty="0" err="1"/>
              <a:t>базі</a:t>
            </a:r>
            <a:r>
              <a:rPr lang="ru-RU" sz="1900" dirty="0"/>
              <a:t> </a:t>
            </a:r>
            <a:r>
              <a:rPr lang="ru-RU" sz="1900" dirty="0" err="1"/>
              <a:t>спеціалізованої</a:t>
            </a:r>
            <a:r>
              <a:rPr lang="ru-RU" sz="1900" dirty="0"/>
              <a:t> </a:t>
            </a:r>
            <a:r>
              <a:rPr lang="ru-RU" sz="1900" dirty="0" err="1"/>
              <a:t>бібліотеки</a:t>
            </a:r>
            <a:r>
              <a:rPr lang="ru-RU" sz="1900" dirty="0"/>
              <a:t> </a:t>
            </a:r>
            <a:r>
              <a:rPr lang="en-US" sz="1900" dirty="0"/>
              <a:t>Microsoft ML </a:t>
            </a:r>
            <a:r>
              <a:rPr lang="en-US" sz="1900" dirty="0" err="1"/>
              <a:t>OnnxRuntime</a:t>
            </a:r>
            <a:r>
              <a:rPr lang="en-US" sz="1900" dirty="0"/>
              <a:t>.</a:t>
            </a:r>
            <a:endParaRPr lang="uk-UA" sz="1900" dirty="0"/>
          </a:p>
          <a:p>
            <a:pPr marL="380990" indent="-380990">
              <a:spcBef>
                <a:spcPts val="20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NET 10 </a:t>
            </a:r>
            <a:r>
              <a:rPr lang="ru-RU" sz="1900" dirty="0"/>
              <a:t>послужив платформою для </a:t>
            </a:r>
            <a:r>
              <a:rPr lang="ru-RU" sz="1900" dirty="0" err="1"/>
              <a:t>розробки</a:t>
            </a:r>
            <a:r>
              <a:rPr lang="ru-RU" sz="1900" dirty="0"/>
              <a:t> прикладного </a:t>
            </a:r>
            <a:r>
              <a:rPr lang="ru-RU" sz="1900" dirty="0" err="1"/>
              <a:t>програмного</a:t>
            </a:r>
            <a:r>
              <a:rPr lang="ru-RU" sz="1900" dirty="0"/>
              <a:t> </a:t>
            </a:r>
            <a:r>
              <a:rPr lang="ru-RU" sz="1900" dirty="0" err="1"/>
              <a:t>інтерфейсу</a:t>
            </a:r>
            <a:r>
              <a:rPr lang="ru-RU" sz="1900" dirty="0"/>
              <a:t> у </a:t>
            </a:r>
            <a:r>
              <a:rPr lang="ru-RU" sz="1900" dirty="0" err="1"/>
              <a:t>форматі</a:t>
            </a:r>
            <a:r>
              <a:rPr lang="ru-RU" sz="1900" dirty="0"/>
              <a:t> </a:t>
            </a:r>
            <a:r>
              <a:rPr lang="en-US" sz="1900" dirty="0"/>
              <a:t>Web API </a:t>
            </a:r>
            <a:r>
              <a:rPr lang="ru-RU" sz="1900" dirty="0"/>
              <a:t>та </a:t>
            </a:r>
            <a:r>
              <a:rPr lang="ru-RU" sz="1900" dirty="0" err="1"/>
              <a:t>створення</a:t>
            </a:r>
            <a:r>
              <a:rPr lang="ru-RU" sz="1900" dirty="0"/>
              <a:t> </a:t>
            </a:r>
            <a:r>
              <a:rPr lang="ru-RU" sz="1900" dirty="0" err="1"/>
              <a:t>вебсервісу</a:t>
            </a:r>
            <a:r>
              <a:rPr lang="ru-RU" sz="1900" dirty="0"/>
              <a:t> для </a:t>
            </a:r>
            <a:r>
              <a:rPr lang="ru-RU" sz="1900" dirty="0" err="1"/>
              <a:t>тестування</a:t>
            </a:r>
            <a:r>
              <a:rPr lang="ru-RU" sz="1900" dirty="0"/>
              <a:t> </a:t>
            </a:r>
            <a:r>
              <a:rPr lang="ru-RU" sz="1900" dirty="0" err="1"/>
              <a:t>зображень</a:t>
            </a:r>
            <a:r>
              <a:rPr lang="ru-RU" sz="1900" dirty="0"/>
              <a:t>.</a:t>
            </a:r>
            <a:endParaRPr lang="en-US" sz="19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8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31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58567" y="466212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uk" sz="4267" dirty="0"/>
              <a:t>Архітектура система для проведення експериментального дослідження</a:t>
            </a:r>
            <a:endParaRPr sz="4267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472633" y="1259651"/>
            <a:ext cx="7284943" cy="455301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0" indent="0">
              <a:spcBef>
                <a:spcPts val="2000"/>
              </a:spcBef>
              <a:buNone/>
            </a:pPr>
            <a:r>
              <a:rPr lang="ru-RU" sz="1600" dirty="0"/>
              <a:t>Програмне рішення побудоване за принципами чистої архітектури та логічно розділене на доменний</a:t>
            </a:r>
            <a:r>
              <a:rPr lang="en-US" sz="1600" dirty="0"/>
              <a:t>,</a:t>
            </a:r>
            <a:r>
              <a:rPr lang="ru-RU" sz="1600" dirty="0"/>
              <a:t> інфраструктурний та прикладний шари</a:t>
            </a:r>
            <a:r>
              <a:rPr lang="en-US" sz="1600" dirty="0"/>
              <a:t>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uk-UA" sz="1600" dirty="0"/>
              <a:t>Опис ключових компонентів:</a:t>
            </a:r>
            <a:endParaRPr lang="en-US" sz="1600" dirty="0"/>
          </a:p>
          <a:p>
            <a:pPr marL="380990" indent="-380990">
              <a:spcBef>
                <a:spcPts val="2000"/>
              </a:spcBef>
              <a:buFontTx/>
              <a:buChar char="-"/>
            </a:pPr>
            <a:r>
              <a:rPr lang="en-US" sz="1600" dirty="0" err="1"/>
              <a:t>WebAPI</a:t>
            </a:r>
            <a:r>
              <a:rPr lang="uk-UA" sz="1600" dirty="0"/>
              <a:t>;</a:t>
            </a:r>
          </a:p>
          <a:p>
            <a:pPr marL="380990" indent="-380990">
              <a:spcBef>
                <a:spcPts val="2000"/>
              </a:spcBef>
              <a:buFontTx/>
              <a:buChar char="-"/>
            </a:pPr>
            <a:r>
              <a:rPr lang="uk-UA" sz="1600" dirty="0"/>
              <a:t>сервіс </a:t>
            </a:r>
            <a:r>
              <a:rPr lang="en-US" sz="1600" dirty="0" err="1"/>
              <a:t>ModelManager</a:t>
            </a:r>
            <a:r>
              <a:rPr lang="uk-UA" sz="1600" dirty="0"/>
              <a:t>, який керує життєвим циклом нейромереж, зчитує конфігураційні метадані та забезпечує динамічне перемикання між активними алгоритмами;</a:t>
            </a:r>
          </a:p>
          <a:p>
            <a:pPr marL="380990" indent="-380990">
              <a:spcBef>
                <a:spcPts val="2000"/>
              </a:spcBef>
              <a:buFontTx/>
              <a:buChar char="-"/>
            </a:pPr>
            <a:r>
              <a:rPr lang="uk-UA" sz="1600" dirty="0"/>
              <a:t>Сервіс </a:t>
            </a:r>
            <a:r>
              <a:rPr lang="en-US" sz="1600" dirty="0" err="1"/>
              <a:t>ImagePreprocessor</a:t>
            </a:r>
            <a:r>
              <a:rPr lang="uk-UA" sz="1600" dirty="0"/>
              <a:t>, який виконує валідацію файлів, перетворення кольорової інформації у багатовимірний тензор та нормалізацію за статистичними константами </a:t>
            </a:r>
            <a:r>
              <a:rPr lang="en-US" sz="1600" dirty="0"/>
              <a:t>ImageNet</a:t>
            </a:r>
            <a:r>
              <a:rPr lang="uk-UA" sz="1600" dirty="0"/>
              <a:t>.</a:t>
            </a:r>
          </a:p>
          <a:p>
            <a:pPr marL="380990" indent="-380990">
              <a:spcBef>
                <a:spcPts val="2000"/>
              </a:spcBef>
              <a:buFontTx/>
              <a:buChar char="-"/>
            </a:pPr>
            <a:endParaRPr lang="uk-UA" sz="1600" dirty="0"/>
          </a:p>
          <a:p>
            <a:pPr marL="0" indent="0">
              <a:spcBef>
                <a:spcPts val="2000"/>
              </a:spcBef>
              <a:buNone/>
            </a:pPr>
            <a:endParaRPr lang="en-US" sz="1600" dirty="0"/>
          </a:p>
          <a:p>
            <a:pPr marL="0" indent="0">
              <a:spcBef>
                <a:spcPts val="2000"/>
              </a:spcBef>
              <a:buNone/>
            </a:pPr>
            <a:endParaRPr sz="16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11704320" y="6141799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9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98EFB-8CAB-49C6-8495-22C8CD92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811" y="1762206"/>
            <a:ext cx="3636063" cy="3471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415600" y="416533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uk" sz="4267" dirty="0"/>
              <a:t>Опис програмного забезпечення, що було використано у дослідженні</a:t>
            </a:r>
            <a:endParaRPr sz="4267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10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026" name="Picture 2" descr="PyTorch: Meta transitions AI framework to PyTorch Foundation">
            <a:extLst>
              <a:ext uri="{FF2B5EF4-FFF2-40B4-BE49-F238E27FC236}">
                <a16:creationId xmlns:a16="http://schemas.microsoft.com/office/drawing/2014/main" id="{0E1A4685-89E5-4DA0-ADDD-59489EFC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32" y="2378668"/>
            <a:ext cx="3692880" cy="209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91C1A9-C4E9-40E1-B484-7E6278DE4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710" y="2215564"/>
            <a:ext cx="2424581" cy="242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(programming language) - Wikipedia">
            <a:extLst>
              <a:ext uri="{FF2B5EF4-FFF2-40B4-BE49-F238E27FC236}">
                <a16:creationId xmlns:a16="http://schemas.microsoft.com/office/drawing/2014/main" id="{504FF219-2968-4392-BB98-EC22EB63F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790" y="2215565"/>
            <a:ext cx="2424583" cy="242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15600" y="-122717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Зміст проведеного експерименту</a:t>
            </a:r>
            <a:endParaRPr sz="4267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415600" y="717674"/>
            <a:ext cx="11504767" cy="536300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uk" sz="1700" b="1" dirty="0"/>
              <a:t>Вхідні дані</a:t>
            </a:r>
            <a:r>
              <a:rPr lang="en-US" sz="17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uk-UA" sz="1700" dirty="0"/>
              <a:t>масив із 60 тисяч зображень з відкритої платформи </a:t>
            </a:r>
            <a:r>
              <a:rPr lang="en-US" sz="1700" dirty="0"/>
              <a:t>Kaggle, </a:t>
            </a:r>
            <a:r>
              <a:rPr lang="uk-UA" sz="1700" dirty="0"/>
              <a:t>який містить 30 тисяч реальних фотографій та 30 тисяч синтетичних зображень, рівномірно створених системами </a:t>
            </a:r>
            <a:r>
              <a:rPr lang="en-US" sz="1700" dirty="0"/>
              <a:t>Stable Diffusion, </a:t>
            </a:r>
            <a:r>
              <a:rPr lang="en-US" sz="1700" dirty="0" err="1"/>
              <a:t>Midjourney</a:t>
            </a:r>
            <a:r>
              <a:rPr lang="en-US" sz="1700" dirty="0"/>
              <a:t> </a:t>
            </a:r>
            <a:r>
              <a:rPr lang="uk-UA" sz="1700" dirty="0"/>
              <a:t>та </a:t>
            </a:r>
            <a:r>
              <a:rPr lang="en-US" sz="1700" dirty="0"/>
              <a:t>DALL-E.</a:t>
            </a:r>
            <a:endParaRPr sz="1700" dirty="0"/>
          </a:p>
          <a:p>
            <a:pPr marL="0" indent="0">
              <a:lnSpc>
                <a:spcPct val="150000"/>
              </a:lnSpc>
              <a:buNone/>
            </a:pPr>
            <a:r>
              <a:rPr lang="uk" sz="1700" b="1" dirty="0"/>
              <a:t>Критерії</a:t>
            </a:r>
            <a:r>
              <a:rPr lang="en-US" sz="17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700" dirty="0"/>
              <a:t>теоретична обчислювальна складність, кількість тренованих параметрів, пікове споживання відеопам'яті, здатність до узагальнення на нових даних та час обробки.</a:t>
            </a:r>
            <a:endParaRPr sz="1700" dirty="0"/>
          </a:p>
          <a:p>
            <a:pPr marL="0" indent="0">
              <a:lnSpc>
                <a:spcPct val="150000"/>
              </a:lnSpc>
              <a:buNone/>
            </a:pPr>
            <a:r>
              <a:rPr lang="uk" sz="1700" b="1" dirty="0"/>
              <a:t>Послідовність: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700" dirty="0"/>
              <a:t>Розподіл загального набору даних на тренувальну, валідаційну та тестову вибірки, Навчання обраних нейромережевих моделей, Експорт натренованих ваг у формат ONNX.</a:t>
            </a:r>
            <a:endParaRPr sz="1700" dirty="0"/>
          </a:p>
          <a:p>
            <a:pPr marL="0" indent="0">
              <a:lnSpc>
                <a:spcPct val="150000"/>
              </a:lnSpc>
              <a:buNone/>
            </a:pPr>
            <a:r>
              <a:rPr lang="uk" sz="1700" b="1" dirty="0"/>
              <a:t>Вимірювання: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uk-UA" sz="1700" dirty="0"/>
              <a:t>точність класифікації, точність позитивного класу </a:t>
            </a:r>
            <a:r>
              <a:rPr lang="en-US" sz="1700" dirty="0"/>
              <a:t>Precision, </a:t>
            </a:r>
            <a:r>
              <a:rPr lang="uk-UA" sz="1700" dirty="0"/>
              <a:t>повнота виявлення фейків </a:t>
            </a:r>
            <a:r>
              <a:rPr lang="en-US" sz="1700" dirty="0"/>
              <a:t>Recall </a:t>
            </a:r>
            <a:r>
              <a:rPr lang="uk-UA" sz="1700" dirty="0"/>
              <a:t>та комплексна гармонійна оцінка </a:t>
            </a:r>
            <a:r>
              <a:rPr lang="en-US" sz="1700" dirty="0"/>
              <a:t>F1 Score</a:t>
            </a:r>
            <a:r>
              <a:rPr lang="uk-UA" sz="1700" dirty="0"/>
              <a:t>, </a:t>
            </a:r>
            <a:r>
              <a:rPr lang="ru-RU" sz="1700" dirty="0"/>
              <a:t>матриця помилок для кожного алгоритму.</a:t>
            </a:r>
            <a:endParaRPr sz="17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11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58567" y="-203997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Результати експерименту </a:t>
            </a:r>
            <a:endParaRPr sz="4267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12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C066AC-7097-46D4-B5FA-85E95154466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19201" y="1214842"/>
            <a:ext cx="4612764" cy="442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F2CEF2-FEB6-4331-B55B-9E4933690B1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 r="17228"/>
          <a:stretch/>
        </p:blipFill>
        <p:spPr bwMode="auto">
          <a:xfrm>
            <a:off x="6360038" y="1214840"/>
            <a:ext cx="4915983" cy="4428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58567" y="-191493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Аналіз отриманих результатів </a:t>
            </a:r>
            <a:endParaRPr sz="4267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415600" y="964221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20000"/>
          </a:bodyPr>
          <a:lstStyle/>
          <a:p>
            <a:pPr marL="380990" indent="-380990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D0D0D"/>
                </a:solidFill>
                <a:highlight>
                  <a:srgbClr val="FFFFFF"/>
                </a:highlight>
              </a:rPr>
              <a:t>була розроблена гібридна модель, яка продемонструвала перевагу над базовим трансформером ViT за всіма основними метриками класифікації;</a:t>
            </a:r>
          </a:p>
          <a:p>
            <a:pPr marL="380990" indent="-380990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D0D0D"/>
                </a:solidFill>
                <a:highlight>
                  <a:srgbClr val="FFFFFF"/>
                </a:highlight>
              </a:rPr>
              <a:t>базова модель ViT краще підходить для платформ, де критично важливо не заблокувати реальний контент користувачів, попри ризик пропуску частини фейків;</a:t>
            </a:r>
          </a:p>
          <a:p>
            <a:pPr marL="380990" indent="-380990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D0D0D"/>
                </a:solidFill>
                <a:highlight>
                  <a:srgbClr val="FFFFFF"/>
                </a:highlight>
              </a:rPr>
              <a:t>гібридний алгоритм є потужнішим інструментом, оскільки він дозволяє ефективно відсіювати дезінформацію з прийнятним компромісом у вигляді незначного зростання хибних блокувань;</a:t>
            </a:r>
          </a:p>
          <a:p>
            <a:pPr marL="380990" indent="-380990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D0D0D"/>
                </a:solidFill>
                <a:highlight>
                  <a:srgbClr val="FFFFFF"/>
                </a:highlight>
              </a:rPr>
              <a:t>просте використання однієї архітектури є менш ефективним, ніж багатошарове об'єднання комплементарних джерел інформації.</a:t>
            </a:r>
          </a:p>
          <a:p>
            <a:pPr marL="380990" indent="-380990">
              <a:spcBef>
                <a:spcPts val="2000"/>
              </a:spcBef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13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58567" y="-248368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Публікація результатів </a:t>
            </a:r>
            <a:endParaRPr sz="4267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14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BF7464-0108-4AEA-A209-5908B97780C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63" y="739101"/>
            <a:ext cx="3765044" cy="5939231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7212BB-3270-4C50-8050-33179EEFA96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967" y="739099"/>
            <a:ext cx="4093659" cy="5939231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415600" y="-47049"/>
            <a:ext cx="11360800" cy="110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r>
              <a:rPr lang="uk" sz="4267" dirty="0"/>
              <a:t>Підсумки </a:t>
            </a:r>
            <a:endParaRPr sz="4267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415600" y="1201008"/>
            <a:ext cx="11360800" cy="447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ru-RU" sz="2400" dirty="0"/>
              <a:t>розроблений гібридний алгоритм довів свою високу ефективність на масивній вибірці з 60 тисяч зображень;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uk-UA" sz="2400" dirty="0"/>
              <a:t>запропоноване рішення має високу комерційну та суспільну цінність, оскільки здатне автоматизувати процеси експертизи та підвищити рівень безпеки шляхом масового виявлення дезінформації;</a:t>
            </a:r>
          </a:p>
          <a:p>
            <a:pPr marL="0" indent="0">
              <a:buNone/>
            </a:pPr>
            <a:r>
              <a:rPr lang="uk-UA" sz="2400" b="1" dirty="0"/>
              <a:t>Подальше вдосконалення</a:t>
            </a:r>
            <a:r>
              <a:rPr lang="uk-UA" sz="2400" dirty="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ru-RU" sz="2400" dirty="0"/>
              <a:t>інтеграція механізмів пояснюваного штучного інтелекту, щоб система не лише видавала числовий вердикт, але й візуально виділяла підозрілі ділянки та знайдені артефакти генерації на самій фотографії.</a:t>
            </a:r>
            <a:endParaRPr sz="24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67" y="5812667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11704320" y="6141799"/>
            <a:ext cx="45076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fld id="{A35EEF41-5B9E-4186-8855-3C8162DCC2D6}" type="slidenum">
              <a:rPr lang="uk-UA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15</a:t>
            </a:fld>
            <a:endParaRPr lang="uk-UA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2" id="{0E3422D2-66DD-48A8-92AD-38892F6C1A30}" vid="{81CCDA4E-A18F-4826-B11D-205FC05A07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923</Words>
  <Application>Microsoft Office PowerPoint</Application>
  <PresentationFormat>Widescreen</PresentationFormat>
  <Paragraphs>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Economica</vt:lpstr>
      <vt:lpstr>Open Sans</vt:lpstr>
      <vt:lpstr>Office Theme</vt:lpstr>
      <vt:lpstr>Luxe</vt:lpstr>
      <vt:lpstr>Дослідження методів визначення ознак зображень, згенерованих штучним інтелектом, для їх подальшого фільтрування</vt:lpstr>
      <vt:lpstr>Актуальність та стан розвитку галузі </vt:lpstr>
      <vt:lpstr>Напрям та об’єкт дослідження</vt:lpstr>
      <vt:lpstr>Огляд літератури (аналогів) </vt:lpstr>
      <vt:lpstr>Зазначення прогалин у наявних дослідженнях</vt:lpstr>
      <vt:lpstr>Постановка задачі</vt:lpstr>
      <vt:lpstr>Методологія </vt:lpstr>
      <vt:lpstr>Інструментарій та технології</vt:lpstr>
      <vt:lpstr>Архітектура система для проведення експериментального дослідження</vt:lpstr>
      <vt:lpstr>Опис програмного забезпечення, що було використано у дослідженні</vt:lpstr>
      <vt:lpstr>Зміст проведеного експерименту</vt:lpstr>
      <vt:lpstr>Результати експерименту </vt:lpstr>
      <vt:lpstr>Аналіз отриманих результатів </vt:lpstr>
      <vt:lpstr>Публікація результатів 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визначення ознак зображень, згенерованих штучним інтелектом, для їх подальшого фільтрування</dc:title>
  <dc:creator>Уляна Деркач</dc:creator>
  <cp:lastModifiedBy>Уляна Деркач</cp:lastModifiedBy>
  <cp:revision>12</cp:revision>
  <dcterms:created xsi:type="dcterms:W3CDTF">2026-04-25T21:21:09Z</dcterms:created>
  <dcterms:modified xsi:type="dcterms:W3CDTF">2026-04-25T21:44:02Z</dcterms:modified>
</cp:coreProperties>
</file>